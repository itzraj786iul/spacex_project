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SpaceX Falcon 9 First Stage Landing Prediction</a:t>
            </a:r>
          </a:p>
          <a:p>
            <a:pPr algn="ctr"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Data Science Capstone Project Report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Author: Itzraj786iul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Date: July 24th, 2026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GitHub Repository URL: https://github.com/Itzraj786iul/Spacex_Project</a:t>
            </a:r>
          </a:p>
          <a:p>
            <a:pPr algn="ctr"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Contains all completed notebooks and Python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GitHub Repository Including All Completed Notebooks and Python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Repository URL: https://github.com/Itzraj786iul/Spacex_Project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Completed notebooks and Python files in this repository: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1. 01-data-collection-api.ipynb - SpaceX REST API data collection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2. 01-data-collection-webscraping.ipynb - Wikipedia web scraping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3. 01-data-wrangling.ipynb - data wrangling and Class labels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4. 02-eda-sql.ipynb - EDA with SQL queries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5. 02-eda-dataviz.ipynb - EDA with data visualization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6. 03-folium-map.ipynb - interactive Folium maps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7. 03-dash-app.py - Plotly Dash dashboard application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8. 04-predictive-models.ipynb - classification predictive analysis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This PDF is the final presentation: Data Science Capstone Project Report.pdf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Summary of methodologies: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Data collection via SpaceX REST API and Wikipedia web scraping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Data wrangling to create binary Class labels for landing success/failure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Exploratory data analysis with SQL (SQLite) and Seaborn visualizations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Interactive visual analytics with Folium maps and Plotly Dash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Predictive analysis using Logistic Regression, SVM, Decision Tree, and KNN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Summary of all results: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Success rate improved over time across launch factors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KSC LC-39A has the highest launch success rate of all sites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ES-L1, SSO, HEO, and GEO orbits show the highest success rates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Heavier payloads had higher early failure rates, improving later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DecisionTreeClassifier is the most accurate predictive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Project background and context: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SpaceX Falcon 9 launches cost about $62 million versus $165 million+ for others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Much of the savings comes from reusing the first stage after a successful landing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Predicting first-stage landing success helps estimate true launch cost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This information supports competitive bidding against SpaceX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Problems we want to find answers: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1. Which features predict successful Falcon 9 first-stage landing?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2. Which launch sites and orbits have the best success rates?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3. How do payload mass and yearly trends affect landing outcomes?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4. What geographic patterns exist around launch sites?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5. Which classification model best predicts landing success?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Collection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5293"/>
                </a:solidFill>
                <a:latin typeface="Calibri"/>
              </a:defRPr>
            </a:pPr>
            <a:r>
              <a:t>How data sets were collected: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SpaceX REST API: GET /v4/launches/past and enrich with rockets, pads,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  payloads, and cores endpoints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Parse JSON into a Pandas dataframe and keep Falcon 9 launches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Wikipedia web scraping with BeautifulSoup for Falcon 9/Heavy tables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Convert scraped HTML tables into a structured Pandas DataFrame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Why both sources: API provides structured flight records; scraping adds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historical tabular launch details for validation and enrichment.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Notebooks: https://github.com/Itzraj786iul/Spacex_Project/blob/main/01-data-collection-api.ipynb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and https://github.com/Itzraj786iul/Spacex_Project/blob/main/01-data-collection-webscraping.ipynb</a:t>
            </a:r>
          </a:p>
        </p:txBody>
      </p:sp>
      <p:pic>
        <p:nvPicPr>
          <p:cNvPr id="6" name="Picture 5" descr="flow_api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52037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Wrangling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How data were processed: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Identified missing values and column types (numeric vs categorical)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Calculated launches per Launch Site and Orbit distributions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Grouped landing outcomes into binary success/failure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Created Class label: 1 = successful landing, 0 = failure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Prepared the labeled dataset for EDA and supervised learning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Result: a clean training-ready table with outcome labels.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Notebook: https://github.com/Itzraj786iul/Spacex_Project/blob/main/01-data-wrangling.ipynb</a:t>
            </a:r>
          </a:p>
        </p:txBody>
      </p:sp>
      <p:pic>
        <p:nvPicPr>
          <p:cNvPr id="6" name="Picture 5" descr="flow_wrang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02404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and Data Visualization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Charts plotted and why: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Flight Number vs Launch Site: success improves with experience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Payload vs Launch Site: payload patterns differ by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Success Rate vs Orbit Type: compare orbit reliability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Flight Number / Payload vs Orbit: interaction effects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Yearly success trend: long-term operational improvement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One-hot / dummy encoding prepared categorical features for ML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Notebook: https://github.com/Itzraj786iul/Spacex_Project/blob/main/02-eda-dataviz.ipynb</a:t>
            </a:r>
          </a:p>
        </p:txBody>
      </p:sp>
      <p:pic>
        <p:nvPicPr>
          <p:cNvPr id="6" name="Picture 5" descr="eda_yearl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964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SQL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5293"/>
                </a:solidFill>
                <a:latin typeface="Calibri"/>
              </a:defRPr>
            </a:pPr>
            <a:r>
              <a:t>SQL queries performed (SQLite):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1. Unique launch site names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2. Five records where launch site begins with CCA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3. Total payload mass for NASA (CRS)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4. Average payload mass for F9 v1.1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5. First successful ground-pad landing date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6. Successful drone-ship landings with payload 4000-6000 kg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7. Counts of successful and failed mission outcomes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8. Booster versions that carried maximum payload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9. 2015 drone-ship failure records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10. Rank landing outcomes between 2010-06-04 and 2017-03-20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Notebook: https://github.com/Itzraj786iul/Spacex_Project/blob/main/02-eda-sql.ipynb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Map with Folium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Map objects created and why: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Circles and Markers for every launch site location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Green/red markers (and clusters) for success vs failure launches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Distance markers and lines to railway, roadway, and coastline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Purpose: discover geographic patterns that influence site suitability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and relate location to landing outcomes.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Notebook: https://github.com/Itzraj786iul/Spacex_Project/blob/main/03-folium-map.ipynb</a:t>
            </a:r>
          </a:p>
        </p:txBody>
      </p:sp>
      <p:pic>
        <p:nvPicPr>
          <p:cNvPr id="6" name="Picture 5" descr="folium_sit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3063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Plotly Dash Dashboard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Dashboard plots and interactions added: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Dropdown to select All Sites or one launch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Pie chart of success counts / success-failure ratio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Payload mass range slider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Scatter plot of Payload vs Outcome by booster version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Why: interactive filtering compares sites and payload ranges quickly.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Python file: https://github.com/Itzraj786iul/Spacex_Project/blob/main/03-dash-app.py</a:t>
            </a:r>
          </a:p>
        </p:txBody>
      </p:sp>
      <p:pic>
        <p:nvPicPr>
          <p:cNvPr id="6" name="Picture 5" descr="dash_all_sit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4612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Predictive Analysis (Classification)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Model development process: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1. Standardize features with StandardScaler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2. Split train/test data (test_size=0.2, random_state=2)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3. Tune hyperparameters with GridSearchCV (cv=10)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4. Train Logistic Regression, SVM, Decision Tree, and KNN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5. Evaluate test accuracy and confusion matrices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6. Select the best performing classifier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Notebook: https://github.com/Itzraj786iul/Spacex_Project/blob/main/04-predictive-models.ipynb</a:t>
            </a:r>
          </a:p>
        </p:txBody>
      </p:sp>
      <p:pic>
        <p:nvPicPr>
          <p:cNvPr id="6" name="Picture 5" descr="flow_m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39992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Visualization: Flight Number vs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Scatter plot analysis: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All sites show a mix of first-stage landing successes and failures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Later flights generally show more successful landings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Success improves as flight number increases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operational experience over time improves landing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at each launch site.</a:t>
            </a:r>
          </a:p>
        </p:txBody>
      </p:sp>
      <p:pic>
        <p:nvPicPr>
          <p:cNvPr id="6" name="Picture 5" descr="eda_flight_sit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704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Visualization: Payload vs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Scatter plot analysis: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Different launch sites handle different payload profiles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Payload mass distribution varies across CCAFS, KSC, and VAFB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Site selection is related to mission/payload requirements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launch site and payload mass jointly influence outcomes.</a:t>
            </a:r>
          </a:p>
        </p:txBody>
      </p:sp>
      <p:pic>
        <p:nvPicPr>
          <p:cNvPr id="6" name="Picture 5" descr="eda_payload_si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8520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Visualization: Success Rate vs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Bar chart analysis: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ES-L1, SSO, HEO, and GEO show the highest success rates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Other orbits such as GTO show more mixed outcomes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Orbit type is an important success-rate factor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some orbit types are associated with more reliable recovery.</a:t>
            </a:r>
          </a:p>
        </p:txBody>
      </p:sp>
      <p:pic>
        <p:nvPicPr>
          <p:cNvPr id="6" name="Picture 5" descr="eda_orbit_succes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938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Visualization: Flight Number vs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Scatter plot analysis: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Some orbits appear more frequently in later flights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Successful landings increase for several orbits over time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Learning effects appear across multiple orbit families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program maturity improved outcomes across orbits.</a:t>
            </a:r>
          </a:p>
        </p:txBody>
      </p:sp>
      <p:pic>
        <p:nvPicPr>
          <p:cNvPr id="6" name="Picture 5" descr="eda_flight_orbi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938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Visualization: Payload vs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Scatter plot analysis: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GTO missions often carry heavier payloads with mixed outcomes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Payload and orbit interact as predictors of landing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Heavy payloads on demanding orbits can reduce success probability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payload-orbit combination is a key risk signal.</a:t>
            </a:r>
          </a:p>
        </p:txBody>
      </p:sp>
      <p:pic>
        <p:nvPicPr>
          <p:cNvPr id="6" name="Picture 5" descr="eda_payload_orbi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938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Visualization: Launch Success Yearly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Line chart analysis: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From 2016 onward, success rate improved year over year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A minor setback appears around 2018, then recovery continues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Recent years approach consistently high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Falcon 9 landing reliability improved with continuous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operational and technological advancements.</a:t>
            </a:r>
          </a:p>
        </p:txBody>
      </p:sp>
      <p:pic>
        <p:nvPicPr>
          <p:cNvPr id="6" name="Picture 5" descr="eda_yearl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964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SQL Results: Launch Sites and CCA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Query 1 - Unique launch site names: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CCAFS LC-40, CCAFS SLC-40, KSC LC-39A, VAFB SLC-4E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Query 2 - Five records where launch sites begin with CCA: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Early CCAFS LC-40 flights from 2010-2013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Outcomes include Failure (parachute) and No attempt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SpaceX launches from Florida and California; early CCAFS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flights show recovery capability evolving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SQL Results: Payload and First Ground 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Query 3 - Total payload mass for NASA (CRS): 45,596 kg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Query 4 - Average payload mass for F9 v1.1: 2,928.4 kg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Query 5 - First successful ground-pad landing date: 2015-12-22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5293"/>
                </a:solidFill>
                <a:latin typeface="Calibri"/>
              </a:defRPr>
            </a:pPr>
            <a:r>
              <a:t>Explanation: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NASA CRS missions delivered a large cumulative payload mass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F9 v1.1 carried moderate average payloads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- 2015-12-22 marks the first successful ground-pad landing 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SQL Results: Drone Ship, Outcomes, Max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Query 6 - Successful drone-ship landing with payload 4000-6000 kg: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F9 FT B1022, F9 FT B1026, F9 FT B1021.2, F9 FT B1031.2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Query 7 - Outcome counts show many successes and fewer failures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  as the program matured (Success / Success drone ship / ground pad dominate later).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Query 8 - Maximum payload boosters are Block 5 versions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  (F9 B5 B1048/B1049/B1051/B1056/B1058/B1060 family).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EDA with SQL Results: 2015 Failures and Ranked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05293"/>
                </a:solidFill>
                <a:latin typeface="Calibri"/>
              </a:defRPr>
            </a:pPr>
            <a:r>
              <a:t>Query 9 - 2015 drone-ship failure records: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January 2015 | F9 v1.1 B1012 | CCAFS LC-40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April 2015 | F9 v1.1 B1015 | CCAFS LC-40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005293"/>
                </a:solidFill>
                <a:latin typeface="Calibri"/>
              </a:defRPr>
            </a:pPr>
            <a:r>
              <a:t>Query 10 - Ranked landing outcomes (2010-06-04 to 2017-03-20):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No attempt is most frequent in this early window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Success (drone ship) and Failure (drone ship) appear next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- Then Success (ground pad) and ocean-controlled outcomes</a:t>
            </a: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F0F0F"/>
                </a:solidFill>
                <a:latin typeface="Calibri"/>
              </a:defRPr>
            </a:pPr>
            <a:r>
              <a:t>Explanation: early years include many no-attempt flights before reuse matured.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Folium Map Results: Launch Site 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Folium map screenshot explanation: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All launch sites are marked near coastal regions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Florida: CCAFS LC-40, CCAFS SLC-40, KSC LC-39A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California: VAFB SLC-4E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Important findings: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Launch sites are in close proximity to the coast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Launch sites are relatively close to the equator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Coastal placement supports safer over-water trajectories</a:t>
            </a:r>
          </a:p>
        </p:txBody>
      </p:sp>
      <p:pic>
        <p:nvPicPr>
          <p:cNvPr id="6" name="Picture 5" descr="folium_sit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30630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Folium Map Results: Color-Labeled Launch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Folium map with success/failure markers: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Green markers = successful landings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Red markers = failed landings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Marker clusters handle overlapping coordinates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Important findings: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KSC LC-39A shows a high share of successful outcomes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Color labels make high-performing sites easy to identify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Outcome geography confirms site-level performance differences</a:t>
            </a:r>
          </a:p>
        </p:txBody>
      </p:sp>
      <p:pic>
        <p:nvPicPr>
          <p:cNvPr id="6" name="Picture 5" descr="folium_outcom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3118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Folium Map Results: Distances to Proximities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Distance analysis on Folium map: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Railway about 1.02 KM from launch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Roadway about 0.59 KM from launch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Coast about 0.86 KM from launch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Important findings: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Sites are close to transport links for logistics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Sites are close to coastline for flight safety corridors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Sites keep distance from dense cities for public safety</a:t>
            </a:r>
          </a:p>
        </p:txBody>
      </p:sp>
      <p:pic>
        <p:nvPicPr>
          <p:cNvPr id="6" name="Picture 5" descr="folium_distan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17890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Plotly Dash Results: Success Count for All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Dashboard pie chart for all sites: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Shows successful landing distribution by launch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KSC LC-39A experienced the highest proportion of successful landings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Important findings: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Site mix is uneven; Florida sites dominate volume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Choosing high-performing sites improves expected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App: https://github.com/Itzraj786iul/Spacex_Project/blob/main/03-dash-app.py</a:t>
            </a:r>
          </a:p>
        </p:txBody>
      </p:sp>
      <p:pic>
        <p:nvPicPr>
          <p:cNvPr id="6" name="Picture 5" descr="dash_all_sites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46129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Plotly Dash Results: Highest Success Ratio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Dashboard pie chart for best site: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KSC LC-39A had the highest ratio of successful landings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Success vs Failure comparison for the selected site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Important findings: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KSC LC-39A is the strongest site by success ratio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Interactive site filtering confirms this consistently</a:t>
            </a:r>
          </a:p>
        </p:txBody>
      </p:sp>
      <p:pic>
        <p:nvPicPr>
          <p:cNvPr id="6" name="Picture 5" descr="dash_best_sit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3912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Plotly Dash Results: Payload vs Launch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Dashboard scatter with payload range slider: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With payload mass between 3,000kg and 5,000kg, booster performance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  patterns become visible by version category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Mid payload ranges often show stronger landing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Important findings: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Payload mass is a key interactive factor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Booster version category helps explain outcome clusters</a:t>
            </a:r>
          </a:p>
        </p:txBody>
      </p:sp>
      <p:pic>
        <p:nvPicPr>
          <p:cNvPr id="6" name="Picture 5" descr="dash_payloa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20640" cy="1957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Predictive Analysis Results: Classification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Model accuracy comparison after GridSearchCV: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Logistic Regression: high accuracy (~0.85 validation)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SVM: high accuracy (~0.85 validation)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Decision Tree: highest accuracy (~0.875 validation)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KNN: high accuracy (~0.85 validation)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Finding: DecisionTreeClassifier is the most accurate algorithm tested.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Bar chart on the right visualizes model comparison.</a:t>
            </a:r>
          </a:p>
        </p:txBody>
      </p:sp>
      <p:pic>
        <p:nvPicPr>
          <p:cNvPr id="6" name="Picture 5" descr="ml_accurac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19269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Predictive Analysis Results: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05293"/>
                </a:solidFill>
                <a:latin typeface="Calibri"/>
              </a:defRPr>
            </a:pPr>
            <a:r>
              <a:t>Confusion matrix of the best model (Decision Tree):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Many observations correctly predicted as successful landings (true positives)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Model distinguishes landed vs did-not-land classes effectively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- Remaining errors are limited on the hold-out test set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Explanation: tuned Decision Tree is selected as the final classifier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for Falcon 9 first-stage landing prediction.</a:t>
            </a:r>
          </a:p>
        </p:txBody>
      </p:sp>
      <p:pic>
        <p:nvPicPr>
          <p:cNvPr id="6" name="Picture 5" descr="ml_confus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303520" cy="4553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1. DecisionTreeClassifier is the best predictive model in this project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2. Launch success rates increase over time across factors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3. KSC LC-39A has the highest success rate among launch sites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4. ES-L1, SSO, HEO, and GEO orbits show consistently high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5. Launch sites are near the coast and relatively close to the equator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6. Lower/mid payload ranges often show better landing success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7. Folium and Plotly Dash make these insights interactive and actionable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Full project repository: https://github.com/Itzraj786iul/Spacex_Project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Creativity Applied Beyond the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5293"/>
                </a:solidFill>
                <a:latin typeface="Calibri"/>
              </a:defRPr>
            </a:pPr>
            <a:r>
              <a:t>Creativity included in this presentation: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Clear navy-branded widescreen layout for readability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Process flow visuals for API, scraping, wrangling, and ML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Side-by-side explanation + chart layout on results slides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Real Folium map screenshots and Dash dashboard screenshots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Runnable Plotly Dash app committed as 03-dash-app.py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- GitHub URL placed on title, methodology, results, and conclusion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Innovative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1. Multi-source consensus: SQL, charts, Folium, and Dash independently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   identify KSC LC-39A as the top-performing site.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2. Payload-orbit risk cluster: heavy GTO-related payloads show mixed outcomes.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3. Block 5 operational edge: maximum-payload missions concentrate on B5 boosters.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4. Non-linear model advantage: Decision Tree outperforms LR/SVM/KNN,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   suggesting threshold interactions among site, orbit, and payload.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5. Geography supports operations: coastal + near-equator siting matches both</a:t>
            </a:r>
          </a:p>
          <a:p>
            <a:pPr>
              <a:spcAft>
                <a:spcPts val="400"/>
              </a:spcAft>
              <a:defRPr sz="1500">
                <a:solidFill>
                  <a:srgbClr val="0F0F0F"/>
                </a:solidFill>
                <a:latin typeface="Calibri"/>
              </a:defRPr>
            </a:pPr>
            <a:r>
              <a:t>   safety corridors and observed high-success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GitHub: https://github.com/Itzraj786iul/Spacex_Project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All completed notebooks and Python files are linked above and listed on slide 2.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Additional assets: spacex_launch_dash.csv, presentation PPTX/PDF.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005293"/>
                </a:solidFill>
                <a:latin typeface="Calibri"/>
              </a:defRPr>
            </a:pPr>
            <a:r>
              <a:t>How to run dashboard: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pip install dash pandas plotly</a:t>
            </a:r>
          </a:p>
          <a:p>
            <a:pPr>
              <a:spcAft>
                <a:spcPts val="400"/>
              </a:spcAft>
              <a:defRPr sz="1600">
                <a:solidFill>
                  <a:srgbClr val="0F0F0F"/>
                </a:solidFill>
                <a:latin typeface="Calibri"/>
              </a:defRPr>
            </a:pPr>
            <a:r>
              <a:t>python 03-dash-app.py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GitHub: https://github.com/Itzraj786iul/Spacex_Project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/>
            </a:pPr>
            <a: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